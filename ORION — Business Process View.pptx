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Single-slide overview of ORION's business process: the top row shows the daily planner workflow from nightly capacity refresh through to publishing the committed plan. The bottom row shows how ORION replaces siloed team spreadsheets with one shared, always-current plan across Warehouse Operations, Transport &amp; Logistics, and Fulfillment.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p:bgPr>
    </p:bg>
    <p:spTree>
      <p:nvGrpSpPr>
        <p:cNvPr id="1" name=""/>
        <p:cNvGrpSpPr/>
        <p:nvPr/>
      </p:nvGrpSpPr>
      <p:grpSpPr>
        <a:xfrm>
          <a:off x="0" y="0"/>
          <a:ext cx="0" cy="0"/>
          <a:chOff x="0" y="0"/>
          <a:chExt cx="0" cy="0"/>
        </a:xfrm>
      </p:grpSpPr>
      <p:sp>
        <p:nvSpPr>
          <p:cNvPr id="2" name="Title Placeholder 1"/>
          <p:cNvSpPr/>
          <p:nvPr>
            <p:ph type="title"/>
          </p:nvPr>
        </p:nvSpPr>
        <p:spPr>
          <a:xfrm>
            <a:off x="762000" y="835620"/>
            <a:ext cx="10668000" cy="419100"/>
          </a:xfrm>
          <a:prstGeom prst="rect">
            <a:avLst/>
          </a:prstGeom>
          <a:noFill/>
          <a:ln/>
        </p:spPr>
        <p:txBody>
          <a:bodyPr wrap="square" lIns="0" tIns="0" rIns="0" bIns="0" rtlCol="0" anchor="t"/>
          <a:lstStyle>
            <a:lvl1pPr algn="l" indent="0" marL="0">
              <a:lnSpc>
                <a:spcPct val="110000"/>
              </a:lnSpc>
              <a:buNone/>
              <a:defRPr lang="en-US" sz="3000" dirty="0">
                <a:solidFill>
                  <a:srgbClr val="14213D"/>
                </a:solidFill>
                <a:latin typeface="Space Grotesk" pitchFamily="34" charset="0"/>
                <a:ea typeface="Space Grotesk" pitchFamily="34" charset="-122"/>
                <a:cs typeface="Space Grotesk" pitchFamily="34" charset="-120"/>
              </a:defRPr>
            </a:lvl1pPr>
          </a:lstStyle>
          <a:p>
            <a:pPr algn="l" indent="0" marL="0">
              <a:lnSpc>
                <a:spcPct val="110000"/>
              </a:lnSpc>
              <a:buNone/>
            </a:pPr>
            <a:endParaRPr lang="en-US" sz="3000" dirty="0"/>
          </a:p>
        </p:txBody>
      </p:sp>
      <p:sp>
        <p:nvSpPr>
          <p:cNvPr id="3" name="Text Placeholder 2"/>
          <p:cNvSpPr/>
          <p:nvPr>
            <p:ph idx="101" type="body"/>
          </p:nvPr>
        </p:nvSpPr>
        <p:spPr>
          <a:xfrm>
            <a:off x="762000" y="1559520"/>
            <a:ext cx="10617200" cy="448568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slideLayout" Target="../slideLayouts/slideLayout2.xml"/><Relationship Id="rId15"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762000" y="558800"/>
            <a:ext cx="109880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ED"/>
                </a:solidFill>
                <a:latin typeface="IBM Plex Sans" pitchFamily="34" charset="0"/>
                <a:ea typeface="IBM Plex Sans" pitchFamily="34" charset="-122"/>
                <a:cs typeface="IBM Plex Sans" pitchFamily="34" charset="-120"/>
              </a:rPr>
              <a:t>ORION · BUSINESS PROCESS VIEW</a:t>
            </a:r>
            <a:endParaRPr lang="en-US" sz="1200" dirty="0"/>
          </a:p>
        </p:txBody>
      </p:sp>
      <p:sp>
        <p:nvSpPr>
          <p:cNvPr id="3" name="Text 1"/>
          <p:cNvSpPr/>
          <p:nvPr>
            <p:ph type="title"/>
          </p:nvPr>
        </p:nvSpPr>
        <p:spPr>
          <a:xfrm>
            <a:off x="762000" y="835620"/>
            <a:ext cx="10988040"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pace Grotesk" pitchFamily="34" charset="0"/>
                <a:ea typeface="Space Grotesk" pitchFamily="34" charset="-122"/>
                <a:cs typeface="Space Grotesk" pitchFamily="34" charset="-120"/>
              </a:rPr>
              <a:t>Daily Workflow, One Shared Plan</a:t>
            </a:r>
            <a:endParaRPr lang="en-US" sz="3000" dirty="0"/>
          </a:p>
        </p:txBody>
      </p:sp>
      <p:sp>
        <p:nvSpPr>
          <p:cNvPr id="4" name="Text 2"/>
          <p:cNvSpPr/>
          <p:nvPr/>
        </p:nvSpPr>
        <p:spPr>
          <a:xfrm>
            <a:off x="762000" y="1483320"/>
            <a:ext cx="1098804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Daily Workflow — one planner, five steps</a:t>
            </a:r>
            <a:endParaRPr lang="en-US" sz="1600" dirty="0"/>
          </a:p>
        </p:txBody>
      </p:sp>
      <p:sp>
        <p:nvSpPr>
          <p:cNvPr id="5" name="Shape 3"/>
          <p:cNvSpPr/>
          <p:nvPr/>
        </p:nvSpPr>
        <p:spPr>
          <a:xfrm>
            <a:off x="765175" y="1943629"/>
            <a:ext cx="1761464" cy="1167937"/>
          </a:xfrm>
          <a:prstGeom prst="roundRect">
            <a:avLst>
              <a:gd name="adj" fmla="val 10602"/>
            </a:avLst>
          </a:prstGeom>
          <a:solidFill>
            <a:srgbClr val="FFFFFF"/>
          </a:solidFill>
          <a:ln w="6350">
            <a:solidFill>
              <a:srgbClr val="E3E6E4"/>
            </a:solidFill>
            <a:prstDash val="solid"/>
          </a:ln>
        </p:spPr>
      </p:sp>
      <p:pic>
        <p:nvPicPr>
          <p:cNvPr id="6" name="Image 0" descr="Database">    </p:cNvPr>
          <p:cNvPicPr>
            <a:picLocks noChangeAspect="1"/>
          </p:cNvPicPr>
          <p:nvPr/>
        </p:nvPicPr>
        <p:blipFill>
          <a:blip r:embed="rId1"/>
          <a:srcRect l="0" r="0" t="0" b="0"/>
          <a:stretch/>
        </p:blipFill>
        <p:spPr>
          <a:xfrm>
            <a:off x="1518907" y="2122488"/>
            <a:ext cx="254000" cy="254000"/>
          </a:xfrm>
          <a:prstGeom prst="rect">
            <a:avLst/>
          </a:prstGeom>
        </p:spPr>
      </p:pic>
      <p:sp>
        <p:nvSpPr>
          <p:cNvPr id="7" name="Text 4"/>
          <p:cNvSpPr/>
          <p:nvPr/>
        </p:nvSpPr>
        <p:spPr>
          <a:xfrm>
            <a:off x="836050" y="2452688"/>
            <a:ext cx="1619647" cy="231114"/>
          </a:xfrm>
          <a:prstGeom prst="rect">
            <a:avLst/>
          </a:prstGeom>
          <a:noFill/>
          <a:ln/>
        </p:spPr>
        <p:txBody>
          <a:bodyPr wrap="square" lIns="0" tIns="0" rIns="0" bIns="0" rtlCol="0" anchor="t">
            <a:normAutofit/>
          </a:bodyPr>
          <a:lstStyle/>
          <a:p>
            <a:pPr algn="ctr" indent="0" marL="0">
              <a:lnSpc>
                <a:spcPts val="1620"/>
              </a:lnSpc>
              <a:buNone/>
            </a:pPr>
            <a:r>
              <a:rPr lang="en-US" sz="1350" b="1" dirty="0">
                <a:solidFill>
                  <a:srgbClr val="14213D"/>
                </a:solidFill>
                <a:latin typeface="IBM Plex Sans" pitchFamily="34" charset="0"/>
                <a:ea typeface="IBM Plex Sans" pitchFamily="34" charset="-122"/>
                <a:cs typeface="IBM Plex Sans" pitchFamily="34" charset="-120"/>
              </a:rPr>
              <a:t>Capacity Refresh</a:t>
            </a:r>
            <a:endParaRPr lang="en-US" sz="1350" dirty="0"/>
          </a:p>
        </p:txBody>
      </p:sp>
      <p:sp>
        <p:nvSpPr>
          <p:cNvPr id="8" name="Text 5"/>
          <p:cNvSpPr/>
          <p:nvPr/>
        </p:nvSpPr>
        <p:spPr>
          <a:xfrm>
            <a:off x="879389" y="2734601"/>
            <a:ext cx="1532969" cy="223507"/>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5B6472"/>
                </a:solidFill>
                <a:latin typeface="IBM Plex Sans" pitchFamily="34" charset="0"/>
                <a:ea typeface="IBM Plex Sans" pitchFamily="34" charset="-122"/>
                <a:cs typeface="IBM Plex Sans" pitchFamily="34" charset="-120"/>
              </a:rPr>
              <a:t>02:00 · automated</a:t>
            </a:r>
            <a:endParaRPr lang="en-US" sz="1200" dirty="0"/>
          </a:p>
        </p:txBody>
      </p:sp>
      <p:pic>
        <p:nvPicPr>
          <p:cNvPr id="9" name="Image 1" descr="arrow-right">    </p:cNvPr>
          <p:cNvPicPr>
            <a:picLocks noChangeAspect="1"/>
          </p:cNvPicPr>
          <p:nvPr/>
        </p:nvPicPr>
        <p:blipFill>
          <a:blip r:embed="rId2"/>
          <a:srcRect l="0" r="0" t="0" b="0"/>
          <a:stretch/>
        </p:blipFill>
        <p:spPr>
          <a:xfrm>
            <a:off x="2618714" y="2457781"/>
            <a:ext cx="279400" cy="139700"/>
          </a:xfrm>
          <a:prstGeom prst="rect">
            <a:avLst/>
          </a:prstGeom>
        </p:spPr>
      </p:pic>
      <p:sp>
        <p:nvSpPr>
          <p:cNvPr id="10" name="Shape 6"/>
          <p:cNvSpPr/>
          <p:nvPr/>
        </p:nvSpPr>
        <p:spPr>
          <a:xfrm>
            <a:off x="2990189" y="1844609"/>
            <a:ext cx="1761530" cy="1366044"/>
          </a:xfrm>
          <a:prstGeom prst="roundRect">
            <a:avLst>
              <a:gd name="adj" fmla="val 9064"/>
            </a:avLst>
          </a:prstGeom>
          <a:solidFill>
            <a:srgbClr val="FFFFFF"/>
          </a:solidFill>
          <a:ln w="6350">
            <a:solidFill>
              <a:srgbClr val="E3E6E4"/>
            </a:solidFill>
            <a:prstDash val="solid"/>
          </a:ln>
        </p:spPr>
      </p:sp>
      <p:pic>
        <p:nvPicPr>
          <p:cNvPr id="11" name="Image 2" descr="Lightning">    </p:cNvPr>
          <p:cNvPicPr>
            <a:picLocks noChangeAspect="1"/>
          </p:cNvPicPr>
          <p:nvPr/>
        </p:nvPicPr>
        <p:blipFill>
          <a:blip r:embed="rId3"/>
          <a:srcRect l="0" r="0" t="0" b="0"/>
          <a:stretch/>
        </p:blipFill>
        <p:spPr>
          <a:xfrm>
            <a:off x="3743920" y="2023467"/>
            <a:ext cx="254000" cy="254000"/>
          </a:xfrm>
          <a:prstGeom prst="rect">
            <a:avLst/>
          </a:prstGeom>
        </p:spPr>
      </p:pic>
      <p:sp>
        <p:nvSpPr>
          <p:cNvPr id="12" name="Text 7"/>
          <p:cNvSpPr/>
          <p:nvPr/>
        </p:nvSpPr>
        <p:spPr>
          <a:xfrm>
            <a:off x="3366016" y="2353667"/>
            <a:ext cx="1009809" cy="231114"/>
          </a:xfrm>
          <a:prstGeom prst="rect">
            <a:avLst/>
          </a:prstGeom>
          <a:noFill/>
          <a:ln/>
        </p:spPr>
        <p:txBody>
          <a:bodyPr wrap="square" lIns="0" tIns="0" rIns="0" bIns="0" rtlCol="0" anchor="t">
            <a:normAutofit/>
          </a:bodyPr>
          <a:lstStyle/>
          <a:p>
            <a:pPr algn="ctr" indent="0" marL="0">
              <a:lnSpc>
                <a:spcPts val="1620"/>
              </a:lnSpc>
              <a:buNone/>
            </a:pPr>
            <a:r>
              <a:rPr lang="en-US" sz="1350" b="1" dirty="0">
                <a:solidFill>
                  <a:srgbClr val="14213D"/>
                </a:solidFill>
                <a:latin typeface="IBM Plex Sans" pitchFamily="34" charset="0"/>
                <a:ea typeface="IBM Plex Sans" pitchFamily="34" charset="-122"/>
                <a:cs typeface="IBM Plex Sans" pitchFamily="34" charset="-120"/>
              </a:rPr>
              <a:t>Model Run</a:t>
            </a:r>
            <a:endParaRPr lang="en-US" sz="1350" dirty="0"/>
          </a:p>
        </p:txBody>
      </p:sp>
      <p:sp>
        <p:nvSpPr>
          <p:cNvPr id="13" name="Text 8"/>
          <p:cNvSpPr/>
          <p:nvPr/>
        </p:nvSpPr>
        <p:spPr>
          <a:xfrm>
            <a:off x="3080147" y="2635581"/>
            <a:ext cx="1581613" cy="421614"/>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5B6472"/>
                </a:solidFill>
                <a:latin typeface="IBM Plex Sans" pitchFamily="34" charset="0"/>
                <a:ea typeface="IBM Plex Sans" pitchFamily="34" charset="-122"/>
                <a:cs typeface="IBM Plex Sans" pitchFamily="34" charset="-120"/>
              </a:rPr>
              <a:t>06:00 · ORION optimizes</a:t>
            </a:r>
            <a:endParaRPr lang="en-US" sz="1200" dirty="0"/>
          </a:p>
        </p:txBody>
      </p:sp>
      <p:pic>
        <p:nvPicPr>
          <p:cNvPr id="14" name="Image 3" descr="arrow-right">    </p:cNvPr>
          <p:cNvPicPr>
            <a:picLocks noChangeAspect="1"/>
          </p:cNvPicPr>
          <p:nvPr/>
        </p:nvPicPr>
        <p:blipFill>
          <a:blip r:embed="rId4"/>
          <a:srcRect l="0" r="0" t="0" b="0"/>
          <a:stretch/>
        </p:blipFill>
        <p:spPr>
          <a:xfrm>
            <a:off x="4843793" y="2457781"/>
            <a:ext cx="279400" cy="139700"/>
          </a:xfrm>
          <a:prstGeom prst="rect">
            <a:avLst/>
          </a:prstGeom>
        </p:spPr>
      </p:pic>
      <p:sp>
        <p:nvSpPr>
          <p:cNvPr id="15" name="Shape 9"/>
          <p:cNvSpPr/>
          <p:nvPr/>
        </p:nvSpPr>
        <p:spPr>
          <a:xfrm>
            <a:off x="5215268" y="1943629"/>
            <a:ext cx="1761464" cy="1167937"/>
          </a:xfrm>
          <a:prstGeom prst="roundRect">
            <a:avLst>
              <a:gd name="adj" fmla="val 10602"/>
            </a:avLst>
          </a:prstGeom>
          <a:solidFill>
            <a:srgbClr val="FFFFFF"/>
          </a:solidFill>
          <a:ln w="6350">
            <a:solidFill>
              <a:srgbClr val="E3E6E4"/>
            </a:solidFill>
            <a:prstDash val="solid"/>
          </a:ln>
        </p:spPr>
      </p:sp>
      <p:pic>
        <p:nvPicPr>
          <p:cNvPr id="16" name="Image 4" descr="Search">    </p:cNvPr>
          <p:cNvPicPr>
            <a:picLocks noChangeAspect="1"/>
          </p:cNvPicPr>
          <p:nvPr/>
        </p:nvPicPr>
        <p:blipFill>
          <a:blip r:embed="rId5"/>
          <a:srcRect l="0" r="0" t="0" b="0"/>
          <a:stretch/>
        </p:blipFill>
        <p:spPr>
          <a:xfrm>
            <a:off x="5969000" y="2122488"/>
            <a:ext cx="254000" cy="254000"/>
          </a:xfrm>
          <a:prstGeom prst="rect">
            <a:avLst/>
          </a:prstGeom>
        </p:spPr>
      </p:pic>
      <p:sp>
        <p:nvSpPr>
          <p:cNvPr id="17" name="Text 10"/>
          <p:cNvSpPr/>
          <p:nvPr/>
        </p:nvSpPr>
        <p:spPr>
          <a:xfrm>
            <a:off x="5352660" y="2452688"/>
            <a:ext cx="1486614" cy="231114"/>
          </a:xfrm>
          <a:prstGeom prst="rect">
            <a:avLst/>
          </a:prstGeom>
          <a:noFill/>
          <a:ln/>
        </p:spPr>
        <p:txBody>
          <a:bodyPr wrap="square" lIns="0" tIns="0" rIns="0" bIns="0" rtlCol="0" anchor="t">
            <a:normAutofit/>
          </a:bodyPr>
          <a:lstStyle/>
          <a:p>
            <a:pPr algn="ctr" indent="0" marL="0">
              <a:lnSpc>
                <a:spcPts val="1620"/>
              </a:lnSpc>
              <a:buNone/>
            </a:pPr>
            <a:r>
              <a:rPr lang="en-US" sz="1350" b="1" dirty="0">
                <a:solidFill>
                  <a:srgbClr val="14213D"/>
                </a:solidFill>
                <a:latin typeface="IBM Plex Sans" pitchFamily="34" charset="0"/>
                <a:ea typeface="IBM Plex Sans" pitchFamily="34" charset="-122"/>
                <a:cs typeface="IBM Plex Sans" pitchFamily="34" charset="-120"/>
              </a:rPr>
              <a:t>Planner Review</a:t>
            </a:r>
            <a:endParaRPr lang="en-US" sz="1350" dirty="0"/>
          </a:p>
        </p:txBody>
      </p:sp>
      <p:sp>
        <p:nvSpPr>
          <p:cNvPr id="18" name="Text 11"/>
          <p:cNvSpPr/>
          <p:nvPr/>
        </p:nvSpPr>
        <p:spPr>
          <a:xfrm>
            <a:off x="5303606" y="2734601"/>
            <a:ext cx="1584722" cy="223507"/>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5B6472"/>
                </a:solidFill>
                <a:latin typeface="IBM Plex Sans" pitchFamily="34" charset="0"/>
                <a:ea typeface="IBM Plex Sans" pitchFamily="34" charset="-122"/>
                <a:cs typeface="IBM Plex Sans" pitchFamily="34" charset="-120"/>
              </a:rPr>
              <a:t>Accept / reject recs</a:t>
            </a:r>
            <a:endParaRPr lang="en-US" sz="1200" dirty="0"/>
          </a:p>
        </p:txBody>
      </p:sp>
      <p:pic>
        <p:nvPicPr>
          <p:cNvPr id="19" name="Image 5" descr="arrow-right">    </p:cNvPr>
          <p:cNvPicPr>
            <a:picLocks noChangeAspect="1"/>
          </p:cNvPicPr>
          <p:nvPr/>
        </p:nvPicPr>
        <p:blipFill>
          <a:blip r:embed="rId6"/>
          <a:srcRect l="0" r="0" t="0" b="0"/>
          <a:stretch/>
        </p:blipFill>
        <p:spPr>
          <a:xfrm>
            <a:off x="7068807" y="2457781"/>
            <a:ext cx="279400" cy="139700"/>
          </a:xfrm>
          <a:prstGeom prst="rect">
            <a:avLst/>
          </a:prstGeom>
        </p:spPr>
      </p:pic>
      <p:sp>
        <p:nvSpPr>
          <p:cNvPr id="20" name="Shape 12"/>
          <p:cNvSpPr/>
          <p:nvPr/>
        </p:nvSpPr>
        <p:spPr>
          <a:xfrm>
            <a:off x="7440282" y="1844609"/>
            <a:ext cx="1761530" cy="1366044"/>
          </a:xfrm>
          <a:prstGeom prst="roundRect">
            <a:avLst>
              <a:gd name="adj" fmla="val 9064"/>
            </a:avLst>
          </a:prstGeom>
          <a:solidFill>
            <a:srgbClr val="FFFFFF"/>
          </a:solidFill>
          <a:ln w="6350">
            <a:solidFill>
              <a:srgbClr val="E3E6E4"/>
            </a:solidFill>
            <a:prstDash val="solid"/>
          </a:ln>
        </p:spPr>
      </p:sp>
      <p:pic>
        <p:nvPicPr>
          <p:cNvPr id="21" name="Image 6" descr="Users">    </p:cNvPr>
          <p:cNvPicPr>
            <a:picLocks noChangeAspect="1"/>
          </p:cNvPicPr>
          <p:nvPr/>
        </p:nvPicPr>
        <p:blipFill>
          <a:blip r:embed="rId7"/>
          <a:srcRect l="0" r="0" t="0" b="0"/>
          <a:stretch/>
        </p:blipFill>
        <p:spPr>
          <a:xfrm>
            <a:off x="8194014" y="2023467"/>
            <a:ext cx="254000" cy="254000"/>
          </a:xfrm>
          <a:prstGeom prst="rect">
            <a:avLst/>
          </a:prstGeom>
        </p:spPr>
      </p:pic>
      <p:sp>
        <p:nvSpPr>
          <p:cNvPr id="22" name="Text 13"/>
          <p:cNvSpPr/>
          <p:nvPr/>
        </p:nvSpPr>
        <p:spPr>
          <a:xfrm>
            <a:off x="7657829" y="2353667"/>
            <a:ext cx="1326436" cy="231114"/>
          </a:xfrm>
          <a:prstGeom prst="rect">
            <a:avLst/>
          </a:prstGeom>
          <a:noFill/>
          <a:ln/>
        </p:spPr>
        <p:txBody>
          <a:bodyPr wrap="square" lIns="0" tIns="0" rIns="0" bIns="0" rtlCol="0" anchor="t">
            <a:normAutofit/>
          </a:bodyPr>
          <a:lstStyle/>
          <a:p>
            <a:pPr algn="ctr" indent="0" marL="0">
              <a:lnSpc>
                <a:spcPts val="1620"/>
              </a:lnSpc>
              <a:buNone/>
            </a:pPr>
            <a:r>
              <a:rPr lang="en-US" sz="1350" b="1" dirty="0">
                <a:solidFill>
                  <a:srgbClr val="14213D"/>
                </a:solidFill>
                <a:latin typeface="IBM Plex Sans" pitchFamily="34" charset="0"/>
                <a:ea typeface="IBM Plex Sans" pitchFamily="34" charset="-122"/>
                <a:cs typeface="IBM Plex Sans" pitchFamily="34" charset="-120"/>
              </a:rPr>
              <a:t>Team Sign-off</a:t>
            </a:r>
            <a:endParaRPr lang="en-US" sz="1350" dirty="0"/>
          </a:p>
        </p:txBody>
      </p:sp>
      <p:sp>
        <p:nvSpPr>
          <p:cNvPr id="23" name="Text 14"/>
          <p:cNvSpPr/>
          <p:nvPr/>
        </p:nvSpPr>
        <p:spPr>
          <a:xfrm>
            <a:off x="7530240" y="2635581"/>
            <a:ext cx="1581613" cy="421614"/>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5B6472"/>
                </a:solidFill>
                <a:latin typeface="IBM Plex Sans" pitchFamily="34" charset="0"/>
                <a:ea typeface="IBM Plex Sans" pitchFamily="34" charset="-122"/>
                <a:cs typeface="IBM Plex Sans" pitchFamily="34" charset="-120"/>
              </a:rPr>
              <a:t>Warehouse · Transport · Fulfillment</a:t>
            </a:r>
            <a:endParaRPr lang="en-US" sz="1200" dirty="0"/>
          </a:p>
        </p:txBody>
      </p:sp>
      <p:pic>
        <p:nvPicPr>
          <p:cNvPr id="24" name="Image 7" descr="arrow-right">    </p:cNvPr>
          <p:cNvPicPr>
            <a:picLocks noChangeAspect="1"/>
          </p:cNvPicPr>
          <p:nvPr/>
        </p:nvPicPr>
        <p:blipFill>
          <a:blip r:embed="rId8"/>
          <a:srcRect l="0" r="0" t="0" b="0"/>
          <a:stretch/>
        </p:blipFill>
        <p:spPr>
          <a:xfrm>
            <a:off x="9293887" y="2457781"/>
            <a:ext cx="279400" cy="139700"/>
          </a:xfrm>
          <a:prstGeom prst="rect">
            <a:avLst/>
          </a:prstGeom>
        </p:spPr>
      </p:pic>
      <p:sp>
        <p:nvSpPr>
          <p:cNvPr id="25" name="Shape 15"/>
          <p:cNvSpPr/>
          <p:nvPr/>
        </p:nvSpPr>
        <p:spPr>
          <a:xfrm>
            <a:off x="9665362" y="1844609"/>
            <a:ext cx="1761464" cy="1366044"/>
          </a:xfrm>
          <a:prstGeom prst="roundRect">
            <a:avLst>
              <a:gd name="adj" fmla="val 9064"/>
            </a:avLst>
          </a:prstGeom>
          <a:solidFill>
            <a:srgbClr val="FFFFFF"/>
          </a:solidFill>
          <a:ln w="6350">
            <a:solidFill>
              <a:srgbClr val="E3E6E4"/>
            </a:solidFill>
            <a:prstDash val="solid"/>
          </a:ln>
        </p:spPr>
      </p:sp>
      <p:pic>
        <p:nvPicPr>
          <p:cNvPr id="26" name="Image 8" descr="CheckCircle">    </p:cNvPr>
          <p:cNvPicPr>
            <a:picLocks noChangeAspect="1"/>
          </p:cNvPicPr>
          <p:nvPr/>
        </p:nvPicPr>
        <p:blipFill>
          <a:blip r:embed="rId9"/>
          <a:srcRect l="0" r="0" t="0" b="0"/>
          <a:stretch/>
        </p:blipFill>
        <p:spPr>
          <a:xfrm>
            <a:off x="10419093" y="2023467"/>
            <a:ext cx="254000" cy="254000"/>
          </a:xfrm>
          <a:prstGeom prst="rect">
            <a:avLst/>
          </a:prstGeom>
        </p:spPr>
      </p:pic>
      <p:sp>
        <p:nvSpPr>
          <p:cNvPr id="27" name="Text 16"/>
          <p:cNvSpPr/>
          <p:nvPr/>
        </p:nvSpPr>
        <p:spPr>
          <a:xfrm>
            <a:off x="9949114" y="2353667"/>
            <a:ext cx="1193959" cy="231114"/>
          </a:xfrm>
          <a:prstGeom prst="rect">
            <a:avLst/>
          </a:prstGeom>
          <a:noFill/>
          <a:ln/>
        </p:spPr>
        <p:txBody>
          <a:bodyPr wrap="square" lIns="0" tIns="0" rIns="0" bIns="0" rtlCol="0" anchor="t">
            <a:normAutofit/>
          </a:bodyPr>
          <a:lstStyle/>
          <a:p>
            <a:pPr algn="ctr" indent="0" marL="0">
              <a:lnSpc>
                <a:spcPts val="1620"/>
              </a:lnSpc>
              <a:buNone/>
            </a:pPr>
            <a:r>
              <a:rPr lang="en-US" sz="1350" b="1" dirty="0">
                <a:solidFill>
                  <a:srgbClr val="14213D"/>
                </a:solidFill>
                <a:latin typeface="IBM Plex Sans" pitchFamily="34" charset="0"/>
                <a:ea typeface="IBM Plex Sans" pitchFamily="34" charset="-122"/>
                <a:cs typeface="IBM Plex Sans" pitchFamily="34" charset="-120"/>
              </a:rPr>
              <a:t>Publish Plan</a:t>
            </a:r>
            <a:endParaRPr lang="en-US" sz="1350" dirty="0"/>
          </a:p>
        </p:txBody>
      </p:sp>
      <p:sp>
        <p:nvSpPr>
          <p:cNvPr id="28" name="Text 17"/>
          <p:cNvSpPr/>
          <p:nvPr/>
        </p:nvSpPr>
        <p:spPr>
          <a:xfrm>
            <a:off x="9755320" y="2635581"/>
            <a:ext cx="1581547" cy="421614"/>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5B6472"/>
                </a:solidFill>
                <a:latin typeface="IBM Plex Sans" pitchFamily="34" charset="0"/>
                <a:ea typeface="IBM Plex Sans" pitchFamily="34" charset="-122"/>
                <a:cs typeface="IBM Plex Sans" pitchFamily="34" charset="-120"/>
              </a:rPr>
              <a:t>Committed for the week</a:t>
            </a:r>
            <a:endParaRPr lang="en-US" sz="1200" dirty="0"/>
          </a:p>
        </p:txBody>
      </p:sp>
      <p:sp>
        <p:nvSpPr>
          <p:cNvPr id="29" name="Text 18"/>
          <p:cNvSpPr/>
          <p:nvPr/>
        </p:nvSpPr>
        <p:spPr>
          <a:xfrm>
            <a:off x="762000" y="3442428"/>
            <a:ext cx="1098804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One Shared Plan — Not Three Spreadsheets</a:t>
            </a:r>
            <a:endParaRPr lang="en-US" sz="1600" dirty="0"/>
          </a:p>
        </p:txBody>
      </p:sp>
      <p:sp>
        <p:nvSpPr>
          <p:cNvPr id="30" name="Shape 19"/>
          <p:cNvSpPr/>
          <p:nvPr/>
        </p:nvSpPr>
        <p:spPr>
          <a:xfrm>
            <a:off x="762000" y="3894931"/>
            <a:ext cx="1651000" cy="1158214"/>
          </a:xfrm>
          <a:prstGeom prst="roundRect">
            <a:avLst>
              <a:gd name="adj" fmla="val 10965"/>
            </a:avLst>
          </a:prstGeom>
          <a:solidFill>
            <a:srgbClr val="14213D"/>
          </a:solidFill>
          <a:ln/>
        </p:spPr>
      </p:sp>
      <p:sp>
        <p:nvSpPr>
          <p:cNvPr id="31" name="Text 20"/>
          <p:cNvSpPr/>
          <p:nvPr/>
        </p:nvSpPr>
        <p:spPr>
          <a:xfrm>
            <a:off x="1144435" y="4098131"/>
            <a:ext cx="886063" cy="317500"/>
          </a:xfrm>
          <a:prstGeom prst="rect">
            <a:avLst/>
          </a:prstGeom>
          <a:noFill/>
          <a:ln/>
        </p:spPr>
        <p:txBody>
          <a:bodyPr wrap="square" lIns="0" tIns="0" rIns="0" bIns="0" rtlCol="0" anchor="t">
            <a:normAutofit/>
          </a:bodyPr>
          <a:lstStyle/>
          <a:p>
            <a:pPr algn="ctr" indent="0" marL="0">
              <a:lnSpc>
                <a:spcPts val="2300"/>
              </a:lnSpc>
              <a:buNone/>
            </a:pPr>
            <a:r>
              <a:rPr lang="en-US" sz="2000" b="1" dirty="0">
                <a:solidFill>
                  <a:srgbClr val="FBFBF8"/>
                </a:solidFill>
                <a:latin typeface="Space Grotesk" pitchFamily="34" charset="0"/>
                <a:ea typeface="Space Grotesk" pitchFamily="34" charset="-122"/>
                <a:cs typeface="Space Grotesk" pitchFamily="34" charset="-120"/>
              </a:rPr>
              <a:t>ORION</a:t>
            </a:r>
            <a:endParaRPr lang="en-US" sz="2000" dirty="0"/>
          </a:p>
        </p:txBody>
      </p:sp>
      <p:sp>
        <p:nvSpPr>
          <p:cNvPr id="32" name="Text 21"/>
          <p:cNvSpPr/>
          <p:nvPr/>
        </p:nvSpPr>
        <p:spPr>
          <a:xfrm>
            <a:off x="863600" y="4453731"/>
            <a:ext cx="1447800" cy="421614"/>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BFD8D5"/>
                </a:solidFill>
                <a:latin typeface="IBM Plex Sans" pitchFamily="34" charset="0"/>
                <a:ea typeface="IBM Plex Sans" pitchFamily="34" charset="-122"/>
                <a:cs typeface="IBM Plex Sans" pitchFamily="34" charset="-120"/>
              </a:rPr>
              <a:t>One plan, always current</a:t>
            </a:r>
            <a:endParaRPr lang="en-US" sz="1200" dirty="0"/>
          </a:p>
        </p:txBody>
      </p:sp>
      <p:pic>
        <p:nvPicPr>
          <p:cNvPr id="33" name="Image 9" descr="arrow-right">    </p:cNvPr>
          <p:cNvPicPr>
            <a:picLocks noChangeAspect="1"/>
          </p:cNvPicPr>
          <p:nvPr/>
        </p:nvPicPr>
        <p:blipFill>
          <a:blip r:embed="rId10"/>
          <a:srcRect l="0" r="0" t="0" b="0"/>
          <a:stretch/>
        </p:blipFill>
        <p:spPr>
          <a:xfrm>
            <a:off x="2540000" y="4391488"/>
            <a:ext cx="330200" cy="165100"/>
          </a:xfrm>
          <a:prstGeom prst="rect">
            <a:avLst/>
          </a:prstGeom>
        </p:spPr>
      </p:pic>
      <p:sp>
        <p:nvSpPr>
          <p:cNvPr id="34" name="Shape 22"/>
          <p:cNvSpPr/>
          <p:nvPr/>
        </p:nvSpPr>
        <p:spPr>
          <a:xfrm>
            <a:off x="3000375" y="3803716"/>
            <a:ext cx="2719917" cy="1340644"/>
          </a:xfrm>
          <a:prstGeom prst="roundRect">
            <a:avLst>
              <a:gd name="adj" fmla="val 9236"/>
            </a:avLst>
          </a:prstGeom>
          <a:solidFill>
            <a:srgbClr val="FFFFFF"/>
          </a:solidFill>
          <a:ln w="6350">
            <a:solidFill>
              <a:srgbClr val="E3E6E4"/>
            </a:solidFill>
            <a:prstDash val="solid"/>
          </a:ln>
        </p:spPr>
      </p:sp>
      <p:pic>
        <p:nvPicPr>
          <p:cNvPr id="35" name="Image 10" descr="Home">    </p:cNvPr>
          <p:cNvPicPr>
            <a:picLocks noChangeAspect="1"/>
          </p:cNvPicPr>
          <p:nvPr/>
        </p:nvPicPr>
        <p:blipFill>
          <a:blip r:embed="rId11"/>
          <a:srcRect l="0" r="0" t="0" b="0"/>
          <a:stretch/>
        </p:blipFill>
        <p:spPr>
          <a:xfrm>
            <a:off x="4246033" y="3982575"/>
            <a:ext cx="228600" cy="228600"/>
          </a:xfrm>
          <a:prstGeom prst="rect">
            <a:avLst/>
          </a:prstGeom>
        </p:spPr>
      </p:pic>
      <p:sp>
        <p:nvSpPr>
          <p:cNvPr id="36" name="Text 23"/>
          <p:cNvSpPr/>
          <p:nvPr/>
        </p:nvSpPr>
        <p:spPr>
          <a:xfrm>
            <a:off x="3273213" y="4287375"/>
            <a:ext cx="2174240" cy="231114"/>
          </a:xfrm>
          <a:prstGeom prst="rect">
            <a:avLst/>
          </a:prstGeom>
          <a:noFill/>
          <a:ln/>
        </p:spPr>
        <p:txBody>
          <a:bodyPr wrap="square" lIns="0" tIns="0" rIns="0" bIns="0" rtlCol="0" anchor="t">
            <a:normAutofit/>
          </a:bodyPr>
          <a:lstStyle/>
          <a:p>
            <a:pPr algn="ctr" indent="0" marL="0">
              <a:lnSpc>
                <a:spcPts val="1620"/>
              </a:lnSpc>
              <a:buNone/>
            </a:pPr>
            <a:r>
              <a:rPr lang="en-US" sz="1350" b="1" dirty="0">
                <a:solidFill>
                  <a:srgbClr val="14213D"/>
                </a:solidFill>
                <a:latin typeface="IBM Plex Sans" pitchFamily="34" charset="0"/>
                <a:ea typeface="IBM Plex Sans" pitchFamily="34" charset="-122"/>
                <a:cs typeface="IBM Plex Sans" pitchFamily="34" charset="-120"/>
              </a:rPr>
              <a:t>Warehouse Operations</a:t>
            </a:r>
            <a:endParaRPr lang="en-US" sz="1350" dirty="0"/>
          </a:p>
        </p:txBody>
      </p:sp>
      <p:sp>
        <p:nvSpPr>
          <p:cNvPr id="37" name="Text 24"/>
          <p:cNvSpPr/>
          <p:nvPr/>
        </p:nvSpPr>
        <p:spPr>
          <a:xfrm>
            <a:off x="3117638" y="4569288"/>
            <a:ext cx="2485390" cy="421614"/>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5B6472"/>
                </a:solidFill>
                <a:latin typeface="IBM Plex Sans" pitchFamily="34" charset="0"/>
                <a:ea typeface="IBM Plex Sans" pitchFamily="34" charset="-122"/>
                <a:cs typeface="IBM Plex Sans" pitchFamily="34" charset="-120"/>
              </a:rPr>
              <a:t>Same dock numbers — no reconciling</a:t>
            </a:r>
            <a:endParaRPr lang="en-US" sz="1200" dirty="0"/>
          </a:p>
        </p:txBody>
      </p:sp>
      <p:sp>
        <p:nvSpPr>
          <p:cNvPr id="38" name="Shape 25"/>
          <p:cNvSpPr/>
          <p:nvPr/>
        </p:nvSpPr>
        <p:spPr>
          <a:xfrm>
            <a:off x="5853642" y="3803716"/>
            <a:ext cx="2719917" cy="1340644"/>
          </a:xfrm>
          <a:prstGeom prst="roundRect">
            <a:avLst>
              <a:gd name="adj" fmla="val 9236"/>
            </a:avLst>
          </a:prstGeom>
          <a:solidFill>
            <a:srgbClr val="FFFFFF"/>
          </a:solidFill>
          <a:ln w="6350">
            <a:solidFill>
              <a:srgbClr val="E3E6E4"/>
            </a:solidFill>
            <a:prstDash val="solid"/>
          </a:ln>
        </p:spPr>
      </p:sp>
      <p:pic>
        <p:nvPicPr>
          <p:cNvPr id="39" name="Image 11" descr="Link">    </p:cNvPr>
          <p:cNvPicPr>
            <a:picLocks noChangeAspect="1"/>
          </p:cNvPicPr>
          <p:nvPr/>
        </p:nvPicPr>
        <p:blipFill>
          <a:blip r:embed="rId12"/>
          <a:srcRect l="0" r="0" t="0" b="0"/>
          <a:stretch/>
        </p:blipFill>
        <p:spPr>
          <a:xfrm>
            <a:off x="7099300" y="3982575"/>
            <a:ext cx="228600" cy="228600"/>
          </a:xfrm>
          <a:prstGeom prst="rect">
            <a:avLst/>
          </a:prstGeom>
        </p:spPr>
      </p:pic>
      <p:sp>
        <p:nvSpPr>
          <p:cNvPr id="40" name="Text 26"/>
          <p:cNvSpPr/>
          <p:nvPr/>
        </p:nvSpPr>
        <p:spPr>
          <a:xfrm>
            <a:off x="6212840" y="4287375"/>
            <a:ext cx="2001520" cy="231114"/>
          </a:xfrm>
          <a:prstGeom prst="rect">
            <a:avLst/>
          </a:prstGeom>
          <a:noFill/>
          <a:ln/>
        </p:spPr>
        <p:txBody>
          <a:bodyPr wrap="square" lIns="0" tIns="0" rIns="0" bIns="0" rtlCol="0" anchor="t">
            <a:normAutofit/>
          </a:bodyPr>
          <a:lstStyle/>
          <a:p>
            <a:pPr algn="ctr" indent="0" marL="0">
              <a:lnSpc>
                <a:spcPts val="1620"/>
              </a:lnSpc>
              <a:buNone/>
            </a:pPr>
            <a:r>
              <a:rPr lang="en-US" sz="1350" b="1" dirty="0">
                <a:solidFill>
                  <a:srgbClr val="14213D"/>
                </a:solidFill>
                <a:latin typeface="IBM Plex Sans" pitchFamily="34" charset="0"/>
                <a:ea typeface="IBM Plex Sans" pitchFamily="34" charset="-122"/>
                <a:cs typeface="IBM Plex Sans" pitchFamily="34" charset="-120"/>
              </a:rPr>
              <a:t>Transport &amp; Logistics</a:t>
            </a:r>
            <a:endParaRPr lang="en-US" sz="1350" dirty="0"/>
          </a:p>
        </p:txBody>
      </p:sp>
      <p:sp>
        <p:nvSpPr>
          <p:cNvPr id="41" name="Text 27"/>
          <p:cNvSpPr/>
          <p:nvPr/>
        </p:nvSpPr>
        <p:spPr>
          <a:xfrm>
            <a:off x="5970905" y="4569288"/>
            <a:ext cx="2485390" cy="421614"/>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5B6472"/>
                </a:solidFill>
                <a:latin typeface="IBM Plex Sans" pitchFamily="34" charset="0"/>
                <a:ea typeface="IBM Plex Sans" pitchFamily="34" charset="-122"/>
                <a:cs typeface="IBM Plex Sans" pitchFamily="34" charset="-120"/>
              </a:rPr>
              <a:t>Lane capacity booked before it's promised</a:t>
            </a:r>
            <a:endParaRPr lang="en-US" sz="1200" dirty="0"/>
          </a:p>
        </p:txBody>
      </p:sp>
      <p:sp>
        <p:nvSpPr>
          <p:cNvPr id="42" name="Shape 28"/>
          <p:cNvSpPr/>
          <p:nvPr/>
        </p:nvSpPr>
        <p:spPr>
          <a:xfrm>
            <a:off x="8706909" y="3902737"/>
            <a:ext cx="2719917" cy="1142537"/>
          </a:xfrm>
          <a:prstGeom prst="roundRect">
            <a:avLst>
              <a:gd name="adj" fmla="val 10838"/>
            </a:avLst>
          </a:prstGeom>
          <a:solidFill>
            <a:srgbClr val="FFFFFF"/>
          </a:solidFill>
          <a:ln w="6350">
            <a:solidFill>
              <a:srgbClr val="E3E6E4"/>
            </a:solidFill>
            <a:prstDash val="solid"/>
          </a:ln>
        </p:spPr>
      </p:sp>
      <p:pic>
        <p:nvPicPr>
          <p:cNvPr id="43" name="Image 12" descr="ThumbsUp">    </p:cNvPr>
          <p:cNvPicPr>
            <a:picLocks noChangeAspect="1"/>
          </p:cNvPicPr>
          <p:nvPr/>
        </p:nvPicPr>
        <p:blipFill>
          <a:blip r:embed="rId13"/>
          <a:srcRect l="0" r="0" t="0" b="0"/>
          <a:stretch/>
        </p:blipFill>
        <p:spPr>
          <a:xfrm>
            <a:off x="9952567" y="4081595"/>
            <a:ext cx="228600" cy="228600"/>
          </a:xfrm>
          <a:prstGeom prst="rect">
            <a:avLst/>
          </a:prstGeom>
        </p:spPr>
      </p:pic>
      <p:sp>
        <p:nvSpPr>
          <p:cNvPr id="44" name="Text 29"/>
          <p:cNvSpPr/>
          <p:nvPr/>
        </p:nvSpPr>
        <p:spPr>
          <a:xfrm>
            <a:off x="9547761" y="4386395"/>
            <a:ext cx="1038146" cy="231114"/>
          </a:xfrm>
          <a:prstGeom prst="rect">
            <a:avLst/>
          </a:prstGeom>
          <a:noFill/>
          <a:ln/>
        </p:spPr>
        <p:txBody>
          <a:bodyPr wrap="square" lIns="0" tIns="0" rIns="0" bIns="0" rtlCol="0" anchor="t">
            <a:normAutofit/>
          </a:bodyPr>
          <a:lstStyle/>
          <a:p>
            <a:pPr algn="ctr" indent="0" marL="0">
              <a:lnSpc>
                <a:spcPts val="1620"/>
              </a:lnSpc>
              <a:buNone/>
            </a:pPr>
            <a:r>
              <a:rPr lang="en-US" sz="1350" b="1" dirty="0">
                <a:solidFill>
                  <a:srgbClr val="14213D"/>
                </a:solidFill>
                <a:latin typeface="IBM Plex Sans" pitchFamily="34" charset="0"/>
                <a:ea typeface="IBM Plex Sans" pitchFamily="34" charset="-122"/>
                <a:cs typeface="IBM Plex Sans" pitchFamily="34" charset="-120"/>
              </a:rPr>
              <a:t>Fulfillment</a:t>
            </a:r>
            <a:endParaRPr lang="en-US" sz="1350" dirty="0"/>
          </a:p>
        </p:txBody>
      </p:sp>
      <p:sp>
        <p:nvSpPr>
          <p:cNvPr id="45" name="Text 30"/>
          <p:cNvSpPr/>
          <p:nvPr/>
        </p:nvSpPr>
        <p:spPr>
          <a:xfrm>
            <a:off x="8710084" y="4668308"/>
            <a:ext cx="2713501" cy="223507"/>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5B6472"/>
                </a:solidFill>
                <a:latin typeface="IBM Plex Sans" pitchFamily="34" charset="0"/>
                <a:ea typeface="IBM Plex Sans" pitchFamily="34" charset="-122"/>
                <a:cs typeface="IBM Plex Sans" pitchFamily="34" charset="-120"/>
              </a:rPr>
              <a:t>Sees exactly what ships, and when</a:t>
            </a:r>
            <a:endParaRPr lang="en-US" sz="1200" dirty="0"/>
          </a:p>
        </p:txBody>
      </p:sp>
    </p:spTree>
  </p:cSld>
  <p:clrMapOvr>
    <a:masterClrMapping/>
  </p:clrMapOvr>
</p:sld>
</file>

<file path=ppt/theme/theme1.xml><?xml version="1.0" encoding="utf-8"?>
<a:theme xmlns:a="http://schemas.openxmlformats.org/drawingml/2006/main" name="ORION — Business Process View">
  <a:themeElements>
    <a:clrScheme name="ORION — Business Process View">
      <a:dk1>
        <a:srgbClr val="14213D"/>
      </a:dk1>
      <a:lt1>
        <a:srgbClr val="FBFBF8"/>
      </a:lt1>
      <a:dk2>
        <a:srgbClr val="4E586C"/>
      </a:dk2>
      <a:lt2>
        <a:srgbClr val="E4E5E5"/>
      </a:lt2>
      <a:accent1>
        <a:srgbClr val="2F6FED"/>
      </a:accent1>
      <a:accent2>
        <a:srgbClr val="5B6472"/>
      </a:accent2>
      <a:accent3>
        <a:srgbClr val="BFD8D5"/>
      </a:accent3>
      <a:accent4>
        <a:srgbClr val="9AA0A6"/>
      </a:accent4>
      <a:accent5>
        <a:srgbClr val="707888"/>
      </a:accent5>
      <a:accent6>
        <a:srgbClr val="9399A4"/>
      </a:accent6>
      <a:hlink>
        <a:srgbClr val="0563C1"/>
      </a:hlink>
      <a:folHlink>
        <a:srgbClr val="954F72"/>
      </a:folHlink>
    </a:clrScheme>
    <a:fontScheme name="ORION — Business Process View">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ORION — Business Process View</dc:title>
  <dc:subject/>
  <dc:creator/>
  <cp:lastModifiedBy/>
  <cp:revision>1</cp:revision>
  <dcterms:created xsi:type="dcterms:W3CDTF">2026-10-01T17:39:03Z</dcterms:created>
  <dcterms:modified xsi:type="dcterms:W3CDTF">2026-10-01T17:39:03Z</dcterms:modified>
</cp:coreProperties>
</file>